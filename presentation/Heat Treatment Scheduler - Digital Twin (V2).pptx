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 SemiBold"/>
      <p:regular r:id="rId11"/>
      <p:bold r:id="rId12"/>
      <p:italic r:id="rId13"/>
      <p:boldItalic r:id="rId14"/>
    </p:embeddedFon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ExtraBold"/>
      <p:bold r:id="rId23"/>
      <p:boldItalic r:id="rId24"/>
    </p:embeddedFont>
    <p:embeddedFont>
      <p:font typeface="Roboto Mono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ExtraBold-boldItalic.fntdata"/><Relationship Id="rId23" Type="http://schemas.openxmlformats.org/officeDocument/2006/relationships/font" Target="fonts/Inter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obotoMono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SemiBold-italic.fntdata"/><Relationship Id="rId12" Type="http://schemas.openxmlformats.org/officeDocument/2006/relationships/font" Target="fonts/RobotoMonoSemiBold-bold.fntdata"/><Relationship Id="rId15" Type="http://schemas.openxmlformats.org/officeDocument/2006/relationships/font" Target="fonts/InterSemiBold-regular.fntdata"/><Relationship Id="rId14" Type="http://schemas.openxmlformats.org/officeDocument/2006/relationships/font" Target="fonts/RobotoMonoSemiBold-boldItalic.fntdata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61c002288_0_13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61c002288_0_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61c002288_0_74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61c002288_0_11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61c002288_0_126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61c002288_9_0)">
  <p:cSld name="Generated (g3e61c002288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high-tech industrial digital twin visualization of a furnace, glowing with orange heat, wireframe overlays, cinematic lighting, dark background, minimalist and professional."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1714500" y="2571750"/>
            <a:ext cx="57150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381000" y="1524000"/>
            <a:ext cx="8382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Heat Treatment Digital Twin</a:t>
            </a:r>
            <a:endParaRPr b="0" sz="4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81000" y="27146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INDUSTRIAL AUTONOMY FRAMEWORK</a:t>
            </a:r>
            <a:endParaRPr b="0" sz="1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3619500" y="4191000"/>
            <a:ext cx="1905000" cy="428700"/>
            <a:chOff x="3619500" y="4191000"/>
            <a:chExt cx="1905000" cy="428700"/>
          </a:xfrm>
        </p:grpSpPr>
        <p:sp>
          <p:nvSpPr>
            <p:cNvPr id="60" name="Google Shape;60;p14"/>
            <p:cNvSpPr/>
            <p:nvPr/>
          </p:nvSpPr>
          <p:spPr>
            <a:xfrm>
              <a:off x="3619500" y="4191000"/>
              <a:ext cx="1905000" cy="428700"/>
            </a:xfrm>
            <a:prstGeom prst="roundRect">
              <a:avLst>
                <a:gd fmla="val 50000" name="adj"/>
              </a:avLst>
            </a:prstGeom>
            <a:solidFill>
              <a:srgbClr val="1E293B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3619500" y="4191000"/>
              <a:ext cx="190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B923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Mukund Kumar</a:t>
              </a:r>
              <a:endParaRPr b="0" sz="1400">
                <a:solidFill>
                  <a:srgbClr val="FB923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66" name="Google Shape;66;p15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 txBox="1"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Real World Has Inertia</a:t>
              </a:r>
              <a:endParaRPr b="0" sz="36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68" name="Google Shape;68;p15"/>
          <p:cNvGrpSpPr/>
          <p:nvPr/>
        </p:nvGrpSpPr>
        <p:grpSpPr>
          <a:xfrm>
            <a:off x="285750" y="1333500"/>
            <a:ext cx="8667900" cy="3238500"/>
            <a:chOff x="285750" y="1333500"/>
            <a:chExt cx="8667900" cy="3238500"/>
          </a:xfrm>
        </p:grpSpPr>
        <p:sp>
          <p:nvSpPr>
            <p:cNvPr id="69" name="Google Shape;69;p15"/>
            <p:cNvSpPr/>
            <p:nvPr/>
          </p:nvSpPr>
          <p:spPr>
            <a:xfrm>
              <a:off x="285750" y="1333500"/>
              <a:ext cx="4286400" cy="3238500"/>
            </a:xfrm>
            <a:prstGeom prst="roundRect">
              <a:avLst>
                <a:gd fmla="val 5882" name="adj"/>
              </a:avLst>
            </a:prstGeom>
            <a:solidFill>
              <a:srgbClr val="1E293B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" name="Google Shape;7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3375" y="1381125"/>
              <a:ext cx="4191000" cy="2476500"/>
            </a:xfrm>
            <a:prstGeom prst="roundRect">
              <a:avLst>
                <a:gd fmla="val 6153" name="adj"/>
              </a:avLst>
            </a:prstGeom>
            <a:noFill/>
            <a:ln>
              <a:noFill/>
            </a:ln>
          </p:spPr>
        </p:pic>
        <p:sp>
          <p:nvSpPr>
            <p:cNvPr id="71" name="Google Shape;71;p15"/>
            <p:cNvSpPr txBox="1"/>
            <p:nvPr/>
          </p:nvSpPr>
          <p:spPr>
            <a:xfrm>
              <a:off x="333375" y="3952875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Standard RL</a:t>
              </a:r>
              <a:endParaRPr b="1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Discrete, instantaneous state changes.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667250" y="1333500"/>
              <a:ext cx="4286400" cy="3238500"/>
            </a:xfrm>
            <a:prstGeom prst="roundRect">
              <a:avLst>
                <a:gd fmla="val 5882" name="adj"/>
              </a:avLst>
            </a:prstGeom>
            <a:solidFill>
              <a:srgbClr val="1E293B">
                <a:alpha val="30000"/>
              </a:srgbClr>
            </a:solidFill>
            <a:ln cap="flat" cmpd="sng" w="9525">
              <a:solidFill>
                <a:srgbClr val="FB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3" name="Google Shape;73;p15"/>
            <p:cNvPicPr preferRelativeResize="0"/>
            <p:nvPr/>
          </p:nvPicPr>
          <p:blipFill rotWithShape="1">
            <a:blip r:embed="rId5">
              <a:alphaModFix/>
            </a:blip>
            <a:srcRect b="7792" l="0" r="0" t="7792"/>
            <a:stretch/>
          </p:blipFill>
          <p:spPr>
            <a:xfrm>
              <a:off x="4714875" y="1381125"/>
              <a:ext cx="4191000" cy="2476500"/>
            </a:xfrm>
            <a:prstGeom prst="roundRect">
              <a:avLst>
                <a:gd fmla="val 6153" name="adj"/>
              </a:avLst>
            </a:prstGeom>
            <a:noFill/>
            <a:ln>
              <a:noFill/>
            </a:ln>
          </p:spPr>
        </p:pic>
        <p:sp>
          <p:nvSpPr>
            <p:cNvPr id="74" name="Google Shape;74;p15"/>
            <p:cNvSpPr txBox="1"/>
            <p:nvPr/>
          </p:nvSpPr>
          <p:spPr>
            <a:xfrm>
              <a:off x="4714875" y="3952875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3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Physical Systems</a:t>
              </a:r>
              <a:endParaRPr b="1" sz="153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Continuous, time-dependent dynamics with thermodynamic constraints.</a:t>
              </a:r>
              <a:endParaRPr b="0" sz="93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76" name="Google Shape;76;p15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7F1D1D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381000" y="466725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CA5A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LLM Failure: </a:t>
              </a:r>
              <a:r>
                <a:rPr b="0" lang="en" sz="13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Next-token thinking causes catastrophic melting.</a:t>
              </a:r>
              <a:endParaRPr b="0" sz="1300">
                <a:solidFill>
                  <a:srgbClr val="FCA5A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381000" y="1905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Digital Twin: Continuous ODEs &amp; SMDP</a:t>
            </a:r>
            <a:endParaRPr b="0" i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83" name="Google Shape;83;p16"/>
          <p:cNvGrpSpPr/>
          <p:nvPr/>
        </p:nvGrpSpPr>
        <p:grpSpPr>
          <a:xfrm>
            <a:off x="381000" y="1143000"/>
            <a:ext cx="3048000" cy="3619500"/>
            <a:chOff x="0" y="0"/>
            <a:chExt cx="3048000" cy="3619500"/>
          </a:xfrm>
        </p:grpSpPr>
        <p:sp>
          <p:nvSpPr>
            <p:cNvPr id="84" name="Google Shape;84;p16"/>
            <p:cNvSpPr/>
            <p:nvPr/>
          </p:nvSpPr>
          <p:spPr>
            <a:xfrm>
              <a:off x="0" y="0"/>
              <a:ext cx="3048000" cy="3619500"/>
            </a:xfrm>
            <a:prstGeom prst="roundRect">
              <a:avLst>
                <a:gd fmla="val 500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6"/>
            <p:cNvSpPr txBox="1"/>
            <p:nvPr/>
          </p:nvSpPr>
          <p:spPr>
            <a:xfrm>
              <a:off x="190500" y="190500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Engine Architecture</a:t>
              </a:r>
              <a:endParaRPr b="1" sz="180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86" name="Google Shape;86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1475" y="666750"/>
              <a:ext cx="200100" cy="257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6"/>
            <p:cNvSpPr txBox="1"/>
            <p:nvPr/>
          </p:nvSpPr>
          <p:spPr>
            <a:xfrm>
              <a:off x="666750" y="762000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📁 </a:t>
              </a:r>
              <a:r>
                <a:rPr lang="en" sz="1050">
                  <a:solidFill>
                    <a:srgbClr val="CCCCCC"/>
                  </a:solidFill>
                  <a:highlight>
                    <a:srgbClr val="171E24"/>
                  </a:highlight>
                  <a:latin typeface="Inter"/>
                  <a:ea typeface="Inter"/>
                  <a:cs typeface="Inter"/>
                  <a:sym typeface="Inter"/>
                </a:rPr>
                <a:t>heat_treatment_scheduler/</a:t>
              </a:r>
              <a:endParaRPr sz="1050">
                <a:solidFill>
                  <a:srgbClr val="CCCCCC"/>
                </a:solidFill>
                <a:highlight>
                  <a:srgbClr val="171E24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666750" y="1143000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📄 </a:t>
              </a:r>
              <a:r>
                <a:rPr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materials.json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666750" y="1524000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📄 </a:t>
              </a:r>
              <a:r>
                <a:rPr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hardware.json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381000" y="2095500"/>
              <a:ext cx="2286000" cy="1143000"/>
            </a:xfrm>
            <a:prstGeom prst="roundRect">
              <a:avLst>
                <a:gd fmla="val 6666" name="adj"/>
              </a:avLst>
            </a:prstGeom>
            <a:solidFill>
              <a:srgbClr val="FB923C">
                <a:alpha val="10000"/>
              </a:srgbClr>
            </a:solidFill>
            <a:ln cap="flat" cmpd="sng" w="9525">
              <a:solidFill>
                <a:srgbClr val="FB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381000" y="2095500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Physics Engine</a:t>
              </a:r>
              <a:endParaRPr b="1" sz="119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solve_ivp Integrator</a:t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" name="Google Shape;92;p16"/>
          <p:cNvGrpSpPr/>
          <p:nvPr/>
        </p:nvGrpSpPr>
        <p:grpSpPr>
          <a:xfrm>
            <a:off x="3619500" y="1071488"/>
            <a:ext cx="5143500" cy="1786013"/>
            <a:chOff x="3619500" y="1071488"/>
            <a:chExt cx="5143500" cy="1786013"/>
          </a:xfrm>
        </p:grpSpPr>
        <p:sp>
          <p:nvSpPr>
            <p:cNvPr id="93" name="Google Shape;93;p16"/>
            <p:cNvSpPr/>
            <p:nvPr/>
          </p:nvSpPr>
          <p:spPr>
            <a:xfrm>
              <a:off x="3619500" y="1143000"/>
              <a:ext cx="5143500" cy="1714500"/>
            </a:xfrm>
            <a:prstGeom prst="roundRect">
              <a:avLst>
                <a:gd fmla="val 8888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3619500" y="1071488"/>
              <a:ext cx="5143500" cy="2859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3810000" y="119062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thermodynamics</a:t>
              </a:r>
              <a:endParaRPr b="0" sz="7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3810000" y="1381125"/>
              <a:ext cx="47625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B923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Newton's Cooling:</a:t>
              </a:r>
              <a:r>
                <a:rPr lang="en" sz="950">
                  <a:solidFill>
                    <a:srgbClr val="F1F5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endParaRPr sz="950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45720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1F5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d(T_mat)/dt = (h(t) * A * (T_furnace - T_mat)) / (m * Cp)</a:t>
              </a:r>
              <a:endParaRPr sz="950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B923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Arrhenius </a:t>
              </a:r>
              <a:r>
                <a:rPr b="1" lang="en" sz="950">
                  <a:solidFill>
                    <a:srgbClr val="FB923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Oxidation:</a:t>
              </a:r>
              <a:r>
                <a:rPr lang="en" sz="950">
                  <a:solidFill>
                    <a:srgbClr val="F1F5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endParaRPr sz="950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45720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1F5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d(ox)/dt = A_ox * exp(-E_ox / (R * (T_mat + 273))) </a:t>
              </a:r>
              <a:endParaRPr sz="950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B923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Arrhenius Equation</a:t>
              </a:r>
              <a:r>
                <a:rPr b="1" lang="en" sz="950">
                  <a:solidFill>
                    <a:srgbClr val="FB923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r>
                <a:rPr lang="en" sz="950">
                  <a:solidFill>
                    <a:srgbClr val="F1F5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endParaRPr sz="950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45720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lang="en" sz="950">
                  <a:solidFill>
                    <a:srgbClr val="F1F5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k(T) = A * exp(-E / (R * (T_mat + 273)))</a:t>
              </a:r>
              <a:endParaRPr sz="950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97" name="Google Shape;97;p16"/>
          <p:cNvGrpSpPr/>
          <p:nvPr/>
        </p:nvGrpSpPr>
        <p:grpSpPr>
          <a:xfrm>
            <a:off x="3619500" y="3048000"/>
            <a:ext cx="5143500" cy="1714500"/>
            <a:chOff x="0" y="0"/>
            <a:chExt cx="5143500" cy="17145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0"/>
              <a:ext cx="5143500" cy="1714500"/>
            </a:xfrm>
            <a:prstGeom prst="roundRect">
              <a:avLst>
                <a:gd fmla="val 8888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190500" y="68450"/>
              <a:ext cx="2857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SMDP CONTROL OUTPUT [ACTION, DURATION]</a:t>
              </a:r>
              <a:endParaRPr b="1" sz="93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0" name="Google Shape;100;p16"/>
            <p:cNvGrpSpPr/>
            <p:nvPr/>
          </p:nvGrpSpPr>
          <p:grpSpPr>
            <a:xfrm>
              <a:off x="190500" y="523875"/>
              <a:ext cx="4476750" cy="571500"/>
              <a:chOff x="0" y="-47625"/>
              <a:chExt cx="4476750" cy="571500"/>
            </a:xfrm>
          </p:grpSpPr>
          <p:sp>
            <p:nvSpPr>
              <p:cNvPr id="101" name="Google Shape;101;p16"/>
              <p:cNvSpPr/>
              <p:nvPr/>
            </p:nvSpPr>
            <p:spPr>
              <a:xfrm>
                <a:off x="0" y="-47625"/>
                <a:ext cx="952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6"/>
              <p:cNvSpPr txBox="1"/>
              <p:nvPr/>
            </p:nvSpPr>
            <p:spPr>
              <a:xfrm>
                <a:off x="0" y="-47625"/>
                <a:ext cx="9525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TEMP</a:t>
                </a:r>
                <a:endParaRPr b="1" sz="7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F8FAFC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850°C</a:t>
                </a:r>
                <a:endParaRPr b="0" sz="16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103" name="Google Shape;103;p16"/>
              <p:cNvSpPr/>
              <p:nvPr/>
            </p:nvSpPr>
            <p:spPr>
              <a:xfrm>
                <a:off x="1047750" y="-47625"/>
                <a:ext cx="952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6"/>
              <p:cNvSpPr txBox="1"/>
              <p:nvPr/>
            </p:nvSpPr>
            <p:spPr>
              <a:xfrm>
                <a:off x="1047750" y="-47625"/>
                <a:ext cx="9525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TIME</a:t>
                </a:r>
                <a:endParaRPr b="1" sz="7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FB923C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45m</a:t>
                </a:r>
                <a:endParaRPr b="0" sz="1600">
                  <a:solidFill>
                    <a:srgbClr val="FB923C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pic>
            <p:nvPicPr>
              <p:cNvPr id="105" name="Google Shape;105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095500" y="228600"/>
                <a:ext cx="266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6" name="Google Shape;106;p16"/>
              <p:cNvSpPr/>
              <p:nvPr/>
            </p:nvSpPr>
            <p:spPr>
              <a:xfrm>
                <a:off x="2476500" y="-47625"/>
                <a:ext cx="952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6"/>
              <p:cNvSpPr txBox="1"/>
              <p:nvPr/>
            </p:nvSpPr>
            <p:spPr>
              <a:xfrm>
                <a:off x="2476500" y="-47625"/>
                <a:ext cx="9525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TEMP</a:t>
                </a:r>
                <a:endParaRPr b="1" sz="7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F8FAFC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400°C</a:t>
                </a:r>
                <a:endParaRPr b="0" sz="16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3524250" y="-47625"/>
                <a:ext cx="952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6"/>
              <p:cNvSpPr txBox="1"/>
              <p:nvPr/>
            </p:nvSpPr>
            <p:spPr>
              <a:xfrm>
                <a:off x="3524250" y="-47625"/>
                <a:ext cx="9525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TIME</a:t>
                </a:r>
                <a:endParaRPr b="1" sz="7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FB923C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12m</a:t>
                </a:r>
                <a:endParaRPr b="0" sz="1600">
                  <a:solidFill>
                    <a:srgbClr val="FB923C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sp>
          <p:nvSpPr>
            <p:cNvPr id="110" name="Google Shape;110;p16"/>
            <p:cNvSpPr txBox="1"/>
            <p:nvPr/>
          </p:nvSpPr>
          <p:spPr>
            <a:xfrm>
              <a:off x="190500" y="1095375"/>
              <a:ext cx="4762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⚡ </a:t>
              </a:r>
              <a:r>
                <a:rPr b="1" lang="en" sz="95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Semi-Markov Decision Process</a:t>
              </a: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(Variable-Time Horizon)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⚙️ </a:t>
              </a:r>
              <a:r>
                <a:rPr b="1" lang="en" sz="95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Configuration-Driven</a:t>
              </a: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(Instant material/hardware swapping)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📊 Powered by </a:t>
              </a:r>
              <a:r>
                <a:rPr b="1" lang="en" sz="95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scipy.integrate.solve_ivp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157125"/>
            <a:ext cx="9144000" cy="952500"/>
          </a:xfrm>
          <a:prstGeom prst="rect">
            <a:avLst/>
          </a:prstGeom>
          <a:solidFill>
            <a:srgbClr val="1E293B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381000" y="190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Teaching Agents "Predictive Braking"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16" name="Google Shape;116;p17"/>
          <p:cNvGrpSpPr/>
          <p:nvPr/>
        </p:nvGrpSpPr>
        <p:grpSpPr>
          <a:xfrm>
            <a:off x="381000" y="1143000"/>
            <a:ext cx="3048000" cy="3619500"/>
            <a:chOff x="0" y="0"/>
            <a:chExt cx="3048000" cy="3619500"/>
          </a:xfrm>
        </p:grpSpPr>
        <p:sp>
          <p:nvSpPr>
            <p:cNvPr id="117" name="Google Shape;117;p17"/>
            <p:cNvSpPr/>
            <p:nvPr/>
          </p:nvSpPr>
          <p:spPr>
            <a:xfrm>
              <a:off x="0" y="0"/>
              <a:ext cx="3048000" cy="3619500"/>
            </a:xfrm>
            <a:prstGeom prst="roundRect">
              <a:avLst>
                <a:gd fmla="val 500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238125" y="238125"/>
              <a:ext cx="25719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The Dataset</a:t>
              </a:r>
              <a:endParaRPr b="1" sz="160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Frontier LLM Successes vs.</a:t>
              </a:r>
              <a:br>
                <a:rPr b="0" lang="en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2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Thermal Lag Failures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The Pipeline</a:t>
              </a:r>
              <a:endParaRPr b="1" sz="160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Unsloth + Hugging Face TRL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peft_config = LoraConfig(r=16, ...)</a:t>
              </a:r>
              <a:endParaRPr b="0" sz="1000">
                <a:solidFill>
                  <a:srgbClr val="94A3B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The Result</a:t>
              </a:r>
              <a:endParaRPr b="1" sz="160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Llama-3-8B learns</a:t>
              </a:r>
              <a:br>
                <a:rPr b="0" lang="en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1" lang="en" sz="12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physical momentum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6884275" y="3363450"/>
            <a:ext cx="2095500" cy="952575"/>
            <a:chOff x="0" y="0"/>
            <a:chExt cx="2095500" cy="952575"/>
          </a:xfrm>
        </p:grpSpPr>
        <p:sp>
          <p:nvSpPr>
            <p:cNvPr id="120" name="Google Shape;120;p17"/>
            <p:cNvSpPr/>
            <p:nvPr/>
          </p:nvSpPr>
          <p:spPr>
            <a:xfrm>
              <a:off x="0" y="0"/>
              <a:ext cx="2095500" cy="9525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mall, clean line chart showing DPO training loss dropping significantly over iterations. Minimalist, dark background, neon blue line." id="121" name="Google Shape;121;p17"/>
            <p:cNvPicPr preferRelativeResize="0"/>
            <p:nvPr/>
          </p:nvPicPr>
          <p:blipFill rotWithShape="1">
            <a:blip r:embed="rId3">
              <a:alphaModFix/>
            </a:blip>
            <a:srcRect b="27273" l="0" r="0" t="27273"/>
            <a:stretch/>
          </p:blipFill>
          <p:spPr>
            <a:xfrm>
              <a:off x="0" y="0"/>
              <a:ext cx="2095500" cy="952500"/>
            </a:xfrm>
            <a:prstGeom prst="roundRect">
              <a:avLst>
                <a:gd fmla="val 8000" name="adj"/>
              </a:avLst>
            </a:prstGeom>
            <a:noFill/>
            <a:ln>
              <a:noFill/>
            </a:ln>
          </p:spPr>
        </p:pic>
        <p:sp>
          <p:nvSpPr>
            <p:cNvPr id="122" name="Google Shape;122;p17"/>
            <p:cNvSpPr/>
            <p:nvPr/>
          </p:nvSpPr>
          <p:spPr>
            <a:xfrm>
              <a:off x="0" y="714375"/>
              <a:ext cx="2095500" cy="238200"/>
            </a:xfrm>
            <a:prstGeom prst="roundRect">
              <a:avLst>
                <a:gd fmla="val 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95250" y="7429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LOSS: </a:t>
              </a:r>
              <a:r>
                <a:rPr b="1" lang="en" sz="12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0.198</a:t>
              </a:r>
              <a:r>
                <a:rPr b="1" lang="en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RUNTIME: </a:t>
              </a:r>
              <a:r>
                <a:rPr b="1" lang="en" sz="12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16m</a:t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0" y="0"/>
              <a:ext cx="2095500" cy="952500"/>
            </a:xfrm>
            <a:prstGeom prst="roundRect">
              <a:avLst>
                <a:gd fmla="val 80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5" name="Google Shape;125;p17" title="Screenshot from 2026-04-23 23-17-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0925" y="1180100"/>
            <a:ext cx="5410201" cy="196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title="Screenshot from 2026-04-23 23-21-4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0925" y="3220125"/>
            <a:ext cx="3238499" cy="162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1E293B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381000" y="190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Heat Treatment Digital Twin (V2)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32" name="Google Shape;132;p18"/>
          <p:cNvGrpSpPr/>
          <p:nvPr/>
        </p:nvGrpSpPr>
        <p:grpSpPr>
          <a:xfrm>
            <a:off x="381000" y="1333500"/>
            <a:ext cx="7381875" cy="762000"/>
            <a:chOff x="381000" y="1333500"/>
            <a:chExt cx="7381875" cy="762000"/>
          </a:xfrm>
        </p:grpSpPr>
        <p:sp>
          <p:nvSpPr>
            <p:cNvPr id="133" name="Google Shape;133;p18"/>
            <p:cNvSpPr/>
            <p:nvPr/>
          </p:nvSpPr>
          <p:spPr>
            <a:xfrm>
              <a:off x="381000" y="1333500"/>
              <a:ext cx="1524000" cy="762000"/>
            </a:xfrm>
            <a:prstGeom prst="roundRect">
              <a:avLst>
                <a:gd fmla="val 1500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 txBox="1"/>
            <p:nvPr/>
          </p:nvSpPr>
          <p:spPr>
            <a:xfrm>
              <a:off x="381000" y="1333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LLM Agent</a:t>
              </a:r>
              <a:endParaRPr b="1" sz="120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Llama-3-8B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35" name="Google Shape;13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0" y="1657350"/>
              <a:ext cx="4383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18"/>
            <p:cNvSpPr/>
            <p:nvPr/>
          </p:nvSpPr>
          <p:spPr>
            <a:xfrm>
              <a:off x="2333625" y="1333500"/>
              <a:ext cx="1524000" cy="762000"/>
            </a:xfrm>
            <a:prstGeom prst="roundRect">
              <a:avLst>
                <a:gd fmla="val 1500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 txBox="1"/>
            <p:nvPr/>
          </p:nvSpPr>
          <p:spPr>
            <a:xfrm>
              <a:off x="2333625" y="1333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FastAPI</a:t>
              </a:r>
              <a:endParaRPr b="1" sz="120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OpenEnv Bridge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38" name="Google Shape;13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57625" y="1657350"/>
              <a:ext cx="4383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8"/>
            <p:cNvSpPr/>
            <p:nvPr/>
          </p:nvSpPr>
          <p:spPr>
            <a:xfrm>
              <a:off x="4286250" y="1333500"/>
              <a:ext cx="1524000" cy="762000"/>
            </a:xfrm>
            <a:prstGeom prst="roundRect">
              <a:avLst>
                <a:gd fmla="val 1500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4286250" y="1333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ODE Engine</a:t>
              </a:r>
              <a:endParaRPr b="1" sz="120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Physics Solver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41" name="Google Shape;14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10250" y="1657350"/>
              <a:ext cx="4383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8"/>
            <p:cNvSpPr/>
            <p:nvPr/>
          </p:nvSpPr>
          <p:spPr>
            <a:xfrm>
              <a:off x="6238875" y="1333500"/>
              <a:ext cx="1524000" cy="762000"/>
            </a:xfrm>
            <a:prstGeom prst="roundRect">
              <a:avLst>
                <a:gd fmla="val 1500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 txBox="1"/>
            <p:nvPr/>
          </p:nvSpPr>
          <p:spPr>
            <a:xfrm>
              <a:off x="6238875" y="1333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Telemetry</a:t>
              </a:r>
              <a:endParaRPr b="1" sz="120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Reward Signal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" name="Google Shape;144;p18"/>
          <p:cNvGrpSpPr/>
          <p:nvPr/>
        </p:nvGrpSpPr>
        <p:grpSpPr>
          <a:xfrm>
            <a:off x="381000" y="2476500"/>
            <a:ext cx="5334000" cy="2286000"/>
            <a:chOff x="381000" y="2476500"/>
            <a:chExt cx="5334000" cy="2286000"/>
          </a:xfrm>
        </p:grpSpPr>
        <p:sp>
          <p:nvSpPr>
            <p:cNvPr id="145" name="Google Shape;145;p18"/>
            <p:cNvSpPr/>
            <p:nvPr/>
          </p:nvSpPr>
          <p:spPr>
            <a:xfrm>
              <a:off x="381000" y="2476500"/>
              <a:ext cx="5334000" cy="22860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666750" y="2667000"/>
              <a:ext cx="4762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923C"/>
                  </a:solidFill>
                  <a:latin typeface="Inter"/>
                  <a:ea typeface="Inter"/>
                  <a:cs typeface="Inter"/>
                  <a:sym typeface="Inter"/>
                </a:rPr>
                <a:t>Architecture Summary</a:t>
              </a:r>
              <a:endParaRPr b="1" sz="120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Long-Horizon Planning:</a:t>
              </a: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Strategic heat cycles managed via SMDP.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Built for OpenEnv:</a:t>
              </a: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Standardized interface for industrial gym environments.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Multi-Agent Scaling:</a:t>
              </a: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Modular design ready for swarm orchestration.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" name="Google Shape;147;p18"/>
          <p:cNvGrpSpPr/>
          <p:nvPr/>
        </p:nvGrpSpPr>
        <p:grpSpPr>
          <a:xfrm>
            <a:off x="6096000" y="2476500"/>
            <a:ext cx="2667000" cy="2286150"/>
            <a:chOff x="6096000" y="2476500"/>
            <a:chExt cx="2667000" cy="2286150"/>
          </a:xfrm>
        </p:grpSpPr>
        <p:sp>
          <p:nvSpPr>
            <p:cNvPr id="148" name="Google Shape;148;p18"/>
            <p:cNvSpPr/>
            <p:nvPr/>
          </p:nvSpPr>
          <p:spPr>
            <a:xfrm>
              <a:off x="6096000" y="2476500"/>
              <a:ext cx="2667000" cy="22860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6096000" y="4476750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FOR GITHUB REPO</a:t>
              </a:r>
              <a:endParaRPr b="1" sz="800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